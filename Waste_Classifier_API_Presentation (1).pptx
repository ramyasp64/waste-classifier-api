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66" r:id="rId6"/>
    <p:sldId id="259" r:id="rId7"/>
    <p:sldId id="260" r:id="rId8"/>
    <p:sldId id="271" r:id="rId9"/>
    <p:sldId id="262" r:id="rId10"/>
    <p:sldId id="272" r:id="rId11"/>
    <p:sldId id="264" r:id="rId12"/>
    <p:sldId id="265" r:id="rId13"/>
    <p:sldId id="268" r:id="rId14"/>
    <p:sldId id="267" r:id="rId15"/>
    <p:sldId id="273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3"/>
  </p:normalViewPr>
  <p:slideViewPr>
    <p:cSldViewPr snapToGrid="0" snapToObjects="1">
      <p:cViewPr varScale="1">
        <p:scale>
          <a:sx n="107" d="100"/>
          <a:sy n="107" d="100"/>
        </p:scale>
        <p:origin x="17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0690C0-B6DF-4E68-8A35-7E532B5EEE6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98D8C2B-330C-4956-9111-53FD21432434}">
      <dgm:prSet/>
      <dgm:spPr/>
      <dgm:t>
        <a:bodyPr/>
        <a:lstStyle/>
        <a:p>
          <a:r>
            <a:rPr lang="en-US" dirty="0"/>
            <a:t>- </a:t>
          </a:r>
          <a:r>
            <a:rPr lang="en-GB" dirty="0"/>
            <a:t>Built a RESTful API using </a:t>
          </a:r>
          <a:r>
            <a:rPr lang="en-GB" dirty="0" err="1"/>
            <a:t>FastAPI</a:t>
          </a:r>
          <a:r>
            <a:rPr lang="en-GB" dirty="0"/>
            <a:t> that accepts image uploads via multipart/form-data</a:t>
          </a:r>
          <a:endParaRPr lang="en-US" dirty="0"/>
        </a:p>
      </dgm:t>
    </dgm:pt>
    <dgm:pt modelId="{B43FD6FB-5B90-4D33-9776-AA2F8CFC3805}" type="parTrans" cxnId="{017A2349-F9A2-4535-93D5-846B2191949E}">
      <dgm:prSet/>
      <dgm:spPr/>
      <dgm:t>
        <a:bodyPr/>
        <a:lstStyle/>
        <a:p>
          <a:endParaRPr lang="en-US"/>
        </a:p>
      </dgm:t>
    </dgm:pt>
    <dgm:pt modelId="{BA92B87B-1F4E-4C6A-8534-D0119D0931C1}" type="sibTrans" cxnId="{017A2349-F9A2-4535-93D5-846B2191949E}">
      <dgm:prSet/>
      <dgm:spPr/>
      <dgm:t>
        <a:bodyPr/>
        <a:lstStyle/>
        <a:p>
          <a:endParaRPr lang="en-US"/>
        </a:p>
      </dgm:t>
    </dgm:pt>
    <dgm:pt modelId="{0038FCF1-0946-4A40-AD62-96D3CE2789C6}">
      <dgm:prSet/>
      <dgm:spPr/>
      <dgm:t>
        <a:bodyPr/>
        <a:lstStyle/>
        <a:p>
          <a:r>
            <a:rPr lang="en-US" dirty="0"/>
            <a:t>- Endpoint: /predict accepts image files</a:t>
          </a:r>
        </a:p>
      </dgm:t>
    </dgm:pt>
    <dgm:pt modelId="{E8653087-DA65-4BDE-A226-80E11BFE2CE3}" type="parTrans" cxnId="{103DA4DB-04FC-4A04-87DA-EC72178D7E5B}">
      <dgm:prSet/>
      <dgm:spPr/>
      <dgm:t>
        <a:bodyPr/>
        <a:lstStyle/>
        <a:p>
          <a:endParaRPr lang="en-US"/>
        </a:p>
      </dgm:t>
    </dgm:pt>
    <dgm:pt modelId="{F7A5F86D-699D-40EE-A085-1D92644E448B}" type="sibTrans" cxnId="{103DA4DB-04FC-4A04-87DA-EC72178D7E5B}">
      <dgm:prSet/>
      <dgm:spPr/>
      <dgm:t>
        <a:bodyPr/>
        <a:lstStyle/>
        <a:p>
          <a:endParaRPr lang="en-US"/>
        </a:p>
      </dgm:t>
    </dgm:pt>
    <dgm:pt modelId="{89D44132-21C2-4823-94CE-FD9E91E8012D}">
      <dgm:prSet/>
      <dgm:spPr/>
      <dgm:t>
        <a:bodyPr/>
        <a:lstStyle/>
        <a:p>
          <a:r>
            <a:rPr lang="en-US"/>
            <a:t>- Swagger UI auto-generated at /docs</a:t>
          </a:r>
        </a:p>
      </dgm:t>
    </dgm:pt>
    <dgm:pt modelId="{1C950D07-9BC7-47C4-852B-CF7A08CF88A5}" type="parTrans" cxnId="{2CF599C4-D6FC-4C1E-B83E-5BADCF06C805}">
      <dgm:prSet/>
      <dgm:spPr/>
      <dgm:t>
        <a:bodyPr/>
        <a:lstStyle/>
        <a:p>
          <a:endParaRPr lang="en-US"/>
        </a:p>
      </dgm:t>
    </dgm:pt>
    <dgm:pt modelId="{6B549487-5DAF-47BB-A5E9-47D592B5A6BA}" type="sibTrans" cxnId="{2CF599C4-D6FC-4C1E-B83E-5BADCF06C805}">
      <dgm:prSet/>
      <dgm:spPr/>
      <dgm:t>
        <a:bodyPr/>
        <a:lstStyle/>
        <a:p>
          <a:endParaRPr lang="en-US"/>
        </a:p>
      </dgm:t>
    </dgm:pt>
    <dgm:pt modelId="{E0CB55FC-FF9F-4B3E-931D-22A38AF5802A}">
      <dgm:prSet/>
      <dgm:spPr/>
      <dgm:t>
        <a:bodyPr/>
        <a:lstStyle/>
        <a:p>
          <a:r>
            <a:rPr lang="en-US"/>
            <a:t>- Returns predicted class and confidence score</a:t>
          </a:r>
        </a:p>
      </dgm:t>
    </dgm:pt>
    <dgm:pt modelId="{DEC44752-B271-4271-B5FD-8B5D4110CDC4}" type="parTrans" cxnId="{719F4A37-CF82-483A-9996-1DE2971CB45C}">
      <dgm:prSet/>
      <dgm:spPr/>
      <dgm:t>
        <a:bodyPr/>
        <a:lstStyle/>
        <a:p>
          <a:endParaRPr lang="en-US"/>
        </a:p>
      </dgm:t>
    </dgm:pt>
    <dgm:pt modelId="{0AE5D4D8-583D-4591-8B5F-689F8031E95C}" type="sibTrans" cxnId="{719F4A37-CF82-483A-9996-1DE2971CB45C}">
      <dgm:prSet/>
      <dgm:spPr/>
      <dgm:t>
        <a:bodyPr/>
        <a:lstStyle/>
        <a:p>
          <a:endParaRPr lang="en-US"/>
        </a:p>
      </dgm:t>
    </dgm:pt>
    <dgm:pt modelId="{33CBF63E-FD9A-404A-A926-469AA841D775}" type="pres">
      <dgm:prSet presAssocID="{980690C0-B6DF-4E68-8A35-7E532B5EEE65}" presName="root" presStyleCnt="0">
        <dgm:presLayoutVars>
          <dgm:dir/>
          <dgm:resizeHandles val="exact"/>
        </dgm:presLayoutVars>
      </dgm:prSet>
      <dgm:spPr/>
    </dgm:pt>
    <dgm:pt modelId="{35229D19-CDE7-4751-A795-EDB9A7625B21}" type="pres">
      <dgm:prSet presAssocID="{298D8C2B-330C-4956-9111-53FD21432434}" presName="compNode" presStyleCnt="0"/>
      <dgm:spPr/>
    </dgm:pt>
    <dgm:pt modelId="{8BB42CD4-092D-4141-8300-E4B090A40D0C}" type="pres">
      <dgm:prSet presAssocID="{298D8C2B-330C-4956-9111-53FD21432434}" presName="bgRect" presStyleLbl="bgShp" presStyleIdx="0" presStyleCnt="4"/>
      <dgm:spPr/>
    </dgm:pt>
    <dgm:pt modelId="{61BB4F07-950E-4D58-8732-C64F3F8B92EF}" type="pres">
      <dgm:prSet presAssocID="{298D8C2B-330C-4956-9111-53FD2143243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5E60AA7-53D5-452B-B8DC-B8043A38AFB7}" type="pres">
      <dgm:prSet presAssocID="{298D8C2B-330C-4956-9111-53FD21432434}" presName="spaceRect" presStyleCnt="0"/>
      <dgm:spPr/>
    </dgm:pt>
    <dgm:pt modelId="{6A7AF73B-9E42-4C7F-A45B-223C1D7C7944}" type="pres">
      <dgm:prSet presAssocID="{298D8C2B-330C-4956-9111-53FD21432434}" presName="parTx" presStyleLbl="revTx" presStyleIdx="0" presStyleCnt="4">
        <dgm:presLayoutVars>
          <dgm:chMax val="0"/>
          <dgm:chPref val="0"/>
        </dgm:presLayoutVars>
      </dgm:prSet>
      <dgm:spPr/>
    </dgm:pt>
    <dgm:pt modelId="{4E3F71EF-7C61-4724-9A72-E9A332C0CE03}" type="pres">
      <dgm:prSet presAssocID="{BA92B87B-1F4E-4C6A-8534-D0119D0931C1}" presName="sibTrans" presStyleCnt="0"/>
      <dgm:spPr/>
    </dgm:pt>
    <dgm:pt modelId="{370E3F1F-B0A6-4CB0-B170-A87BA992421E}" type="pres">
      <dgm:prSet presAssocID="{0038FCF1-0946-4A40-AD62-96D3CE2789C6}" presName="compNode" presStyleCnt="0"/>
      <dgm:spPr/>
    </dgm:pt>
    <dgm:pt modelId="{D3300A14-5D97-41DB-9077-371B31DE8D55}" type="pres">
      <dgm:prSet presAssocID="{0038FCF1-0946-4A40-AD62-96D3CE2789C6}" presName="bgRect" presStyleLbl="bgShp" presStyleIdx="1" presStyleCnt="4"/>
      <dgm:spPr/>
    </dgm:pt>
    <dgm:pt modelId="{227BCEAE-9BE1-4E72-880C-967E70943AFA}" type="pres">
      <dgm:prSet presAssocID="{0038FCF1-0946-4A40-AD62-96D3CE2789C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0A721EA-082A-4E80-8519-349E2AA24232}" type="pres">
      <dgm:prSet presAssocID="{0038FCF1-0946-4A40-AD62-96D3CE2789C6}" presName="spaceRect" presStyleCnt="0"/>
      <dgm:spPr/>
    </dgm:pt>
    <dgm:pt modelId="{D2E3A7EF-0907-4D02-B47C-F7204CF2C024}" type="pres">
      <dgm:prSet presAssocID="{0038FCF1-0946-4A40-AD62-96D3CE2789C6}" presName="parTx" presStyleLbl="revTx" presStyleIdx="1" presStyleCnt="4">
        <dgm:presLayoutVars>
          <dgm:chMax val="0"/>
          <dgm:chPref val="0"/>
        </dgm:presLayoutVars>
      </dgm:prSet>
      <dgm:spPr/>
    </dgm:pt>
    <dgm:pt modelId="{2B92F0A3-E44A-4E6B-842D-6627163D8D15}" type="pres">
      <dgm:prSet presAssocID="{F7A5F86D-699D-40EE-A085-1D92644E448B}" presName="sibTrans" presStyleCnt="0"/>
      <dgm:spPr/>
    </dgm:pt>
    <dgm:pt modelId="{88B2CAC7-3BE6-4280-8B95-EFF2EAC5BCC2}" type="pres">
      <dgm:prSet presAssocID="{89D44132-21C2-4823-94CE-FD9E91E8012D}" presName="compNode" presStyleCnt="0"/>
      <dgm:spPr/>
    </dgm:pt>
    <dgm:pt modelId="{F3387BAB-CBD4-42EC-A3AA-DF43B42834D7}" type="pres">
      <dgm:prSet presAssocID="{89D44132-21C2-4823-94CE-FD9E91E8012D}" presName="bgRect" presStyleLbl="bgShp" presStyleIdx="2" presStyleCnt="4"/>
      <dgm:spPr/>
    </dgm:pt>
    <dgm:pt modelId="{31D3EB94-EBAD-4550-847D-3516CE0C20F5}" type="pres">
      <dgm:prSet presAssocID="{89D44132-21C2-4823-94CE-FD9E91E801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BB81465-F859-4F98-82A9-FBA6FEBFB6DF}" type="pres">
      <dgm:prSet presAssocID="{89D44132-21C2-4823-94CE-FD9E91E8012D}" presName="spaceRect" presStyleCnt="0"/>
      <dgm:spPr/>
    </dgm:pt>
    <dgm:pt modelId="{F79FC988-B99A-4E58-A443-11E138349A6B}" type="pres">
      <dgm:prSet presAssocID="{89D44132-21C2-4823-94CE-FD9E91E8012D}" presName="parTx" presStyleLbl="revTx" presStyleIdx="2" presStyleCnt="4">
        <dgm:presLayoutVars>
          <dgm:chMax val="0"/>
          <dgm:chPref val="0"/>
        </dgm:presLayoutVars>
      </dgm:prSet>
      <dgm:spPr/>
    </dgm:pt>
    <dgm:pt modelId="{CEBF74A5-7FAB-409B-BEF5-F38FCCABF4D8}" type="pres">
      <dgm:prSet presAssocID="{6B549487-5DAF-47BB-A5E9-47D592B5A6BA}" presName="sibTrans" presStyleCnt="0"/>
      <dgm:spPr/>
    </dgm:pt>
    <dgm:pt modelId="{93C5EAD4-41D0-4B77-B533-CA60A69AB2BE}" type="pres">
      <dgm:prSet presAssocID="{E0CB55FC-FF9F-4B3E-931D-22A38AF5802A}" presName="compNode" presStyleCnt="0"/>
      <dgm:spPr/>
    </dgm:pt>
    <dgm:pt modelId="{A114BA16-F80F-4BDB-AB2C-6B52629B7179}" type="pres">
      <dgm:prSet presAssocID="{E0CB55FC-FF9F-4B3E-931D-22A38AF5802A}" presName="bgRect" presStyleLbl="bgShp" presStyleIdx="3" presStyleCnt="4"/>
      <dgm:spPr/>
    </dgm:pt>
    <dgm:pt modelId="{5FF0AC43-161B-4EBD-B88D-440EA676CCD3}" type="pres">
      <dgm:prSet presAssocID="{E0CB55FC-FF9F-4B3E-931D-22A38AF5802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1BC72DD-6A16-4F10-B711-9A5ECA738AF4}" type="pres">
      <dgm:prSet presAssocID="{E0CB55FC-FF9F-4B3E-931D-22A38AF5802A}" presName="spaceRect" presStyleCnt="0"/>
      <dgm:spPr/>
    </dgm:pt>
    <dgm:pt modelId="{C44D1D83-ABB1-4BD6-ABED-29E3AAAFA91B}" type="pres">
      <dgm:prSet presAssocID="{E0CB55FC-FF9F-4B3E-931D-22A38AF5802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7F92E01-399E-4ED1-B2D7-BA0E4D5574D8}" type="presOf" srcId="{0038FCF1-0946-4A40-AD62-96D3CE2789C6}" destId="{D2E3A7EF-0907-4D02-B47C-F7204CF2C024}" srcOrd="0" destOrd="0" presId="urn:microsoft.com/office/officeart/2018/2/layout/IconVerticalSolidList"/>
    <dgm:cxn modelId="{E8528423-9A4F-449C-8E8C-7ACEC2C261FD}" type="presOf" srcId="{89D44132-21C2-4823-94CE-FD9E91E8012D}" destId="{F79FC988-B99A-4E58-A443-11E138349A6B}" srcOrd="0" destOrd="0" presId="urn:microsoft.com/office/officeart/2018/2/layout/IconVerticalSolidList"/>
    <dgm:cxn modelId="{719F4A37-CF82-483A-9996-1DE2971CB45C}" srcId="{980690C0-B6DF-4E68-8A35-7E532B5EEE65}" destId="{E0CB55FC-FF9F-4B3E-931D-22A38AF5802A}" srcOrd="3" destOrd="0" parTransId="{DEC44752-B271-4271-B5FD-8B5D4110CDC4}" sibTransId="{0AE5D4D8-583D-4591-8B5F-689F8031E95C}"/>
    <dgm:cxn modelId="{DBC19637-3E11-425C-8FC0-7685BA3B1216}" type="presOf" srcId="{298D8C2B-330C-4956-9111-53FD21432434}" destId="{6A7AF73B-9E42-4C7F-A45B-223C1D7C7944}" srcOrd="0" destOrd="0" presId="urn:microsoft.com/office/officeart/2018/2/layout/IconVerticalSolidList"/>
    <dgm:cxn modelId="{017A2349-F9A2-4535-93D5-846B2191949E}" srcId="{980690C0-B6DF-4E68-8A35-7E532B5EEE65}" destId="{298D8C2B-330C-4956-9111-53FD21432434}" srcOrd="0" destOrd="0" parTransId="{B43FD6FB-5B90-4D33-9776-AA2F8CFC3805}" sibTransId="{BA92B87B-1F4E-4C6A-8534-D0119D0931C1}"/>
    <dgm:cxn modelId="{56BF8288-A6BC-4EF8-B781-430B574CECD5}" type="presOf" srcId="{980690C0-B6DF-4E68-8A35-7E532B5EEE65}" destId="{33CBF63E-FD9A-404A-A926-469AA841D775}" srcOrd="0" destOrd="0" presId="urn:microsoft.com/office/officeart/2018/2/layout/IconVerticalSolidList"/>
    <dgm:cxn modelId="{2CF599C4-D6FC-4C1E-B83E-5BADCF06C805}" srcId="{980690C0-B6DF-4E68-8A35-7E532B5EEE65}" destId="{89D44132-21C2-4823-94CE-FD9E91E8012D}" srcOrd="2" destOrd="0" parTransId="{1C950D07-9BC7-47C4-852B-CF7A08CF88A5}" sibTransId="{6B549487-5DAF-47BB-A5E9-47D592B5A6BA}"/>
    <dgm:cxn modelId="{103DA4DB-04FC-4A04-87DA-EC72178D7E5B}" srcId="{980690C0-B6DF-4E68-8A35-7E532B5EEE65}" destId="{0038FCF1-0946-4A40-AD62-96D3CE2789C6}" srcOrd="1" destOrd="0" parTransId="{E8653087-DA65-4BDE-A226-80E11BFE2CE3}" sibTransId="{F7A5F86D-699D-40EE-A085-1D92644E448B}"/>
    <dgm:cxn modelId="{ABE154E2-3A27-4901-9CE4-A45C10AAF8E1}" type="presOf" srcId="{E0CB55FC-FF9F-4B3E-931D-22A38AF5802A}" destId="{C44D1D83-ABB1-4BD6-ABED-29E3AAAFA91B}" srcOrd="0" destOrd="0" presId="urn:microsoft.com/office/officeart/2018/2/layout/IconVerticalSolidList"/>
    <dgm:cxn modelId="{8CACFDC7-C6E7-4D1E-8521-7A71A322C5DC}" type="presParOf" srcId="{33CBF63E-FD9A-404A-A926-469AA841D775}" destId="{35229D19-CDE7-4751-A795-EDB9A7625B21}" srcOrd="0" destOrd="0" presId="urn:microsoft.com/office/officeart/2018/2/layout/IconVerticalSolidList"/>
    <dgm:cxn modelId="{72644548-05B3-409D-8AAC-BD2E57439D6F}" type="presParOf" srcId="{35229D19-CDE7-4751-A795-EDB9A7625B21}" destId="{8BB42CD4-092D-4141-8300-E4B090A40D0C}" srcOrd="0" destOrd="0" presId="urn:microsoft.com/office/officeart/2018/2/layout/IconVerticalSolidList"/>
    <dgm:cxn modelId="{73BE8D10-2E25-4578-93F6-8C8ED8F68B09}" type="presParOf" srcId="{35229D19-CDE7-4751-A795-EDB9A7625B21}" destId="{61BB4F07-950E-4D58-8732-C64F3F8B92EF}" srcOrd="1" destOrd="0" presId="urn:microsoft.com/office/officeart/2018/2/layout/IconVerticalSolidList"/>
    <dgm:cxn modelId="{B02F9D3B-F293-4080-B466-DF7B828DC080}" type="presParOf" srcId="{35229D19-CDE7-4751-A795-EDB9A7625B21}" destId="{F5E60AA7-53D5-452B-B8DC-B8043A38AFB7}" srcOrd="2" destOrd="0" presId="urn:microsoft.com/office/officeart/2018/2/layout/IconVerticalSolidList"/>
    <dgm:cxn modelId="{E848C58B-3C68-449A-A7EE-90F5049D9119}" type="presParOf" srcId="{35229D19-CDE7-4751-A795-EDB9A7625B21}" destId="{6A7AF73B-9E42-4C7F-A45B-223C1D7C7944}" srcOrd="3" destOrd="0" presId="urn:microsoft.com/office/officeart/2018/2/layout/IconVerticalSolidList"/>
    <dgm:cxn modelId="{6F554324-A623-48D9-919B-8A6B0D5795D6}" type="presParOf" srcId="{33CBF63E-FD9A-404A-A926-469AA841D775}" destId="{4E3F71EF-7C61-4724-9A72-E9A332C0CE03}" srcOrd="1" destOrd="0" presId="urn:microsoft.com/office/officeart/2018/2/layout/IconVerticalSolidList"/>
    <dgm:cxn modelId="{AF8AB7CE-632D-4EB9-BEAC-3F07AA22C590}" type="presParOf" srcId="{33CBF63E-FD9A-404A-A926-469AA841D775}" destId="{370E3F1F-B0A6-4CB0-B170-A87BA992421E}" srcOrd="2" destOrd="0" presId="urn:microsoft.com/office/officeart/2018/2/layout/IconVerticalSolidList"/>
    <dgm:cxn modelId="{294B9DCF-94D1-4411-8F35-B014FCC6D23A}" type="presParOf" srcId="{370E3F1F-B0A6-4CB0-B170-A87BA992421E}" destId="{D3300A14-5D97-41DB-9077-371B31DE8D55}" srcOrd="0" destOrd="0" presId="urn:microsoft.com/office/officeart/2018/2/layout/IconVerticalSolidList"/>
    <dgm:cxn modelId="{6CA99140-817D-4A3B-83C6-D2445DF66261}" type="presParOf" srcId="{370E3F1F-B0A6-4CB0-B170-A87BA992421E}" destId="{227BCEAE-9BE1-4E72-880C-967E70943AFA}" srcOrd="1" destOrd="0" presId="urn:microsoft.com/office/officeart/2018/2/layout/IconVerticalSolidList"/>
    <dgm:cxn modelId="{0EEB516D-7D66-446A-BBA6-762B7C856572}" type="presParOf" srcId="{370E3F1F-B0A6-4CB0-B170-A87BA992421E}" destId="{10A721EA-082A-4E80-8519-349E2AA24232}" srcOrd="2" destOrd="0" presId="urn:microsoft.com/office/officeart/2018/2/layout/IconVerticalSolidList"/>
    <dgm:cxn modelId="{0AE4CF7D-7457-4D99-8EAC-D4ACB28F5BC8}" type="presParOf" srcId="{370E3F1F-B0A6-4CB0-B170-A87BA992421E}" destId="{D2E3A7EF-0907-4D02-B47C-F7204CF2C024}" srcOrd="3" destOrd="0" presId="urn:microsoft.com/office/officeart/2018/2/layout/IconVerticalSolidList"/>
    <dgm:cxn modelId="{1DA63DF2-DDE5-4EE0-93D8-2462FE411765}" type="presParOf" srcId="{33CBF63E-FD9A-404A-A926-469AA841D775}" destId="{2B92F0A3-E44A-4E6B-842D-6627163D8D15}" srcOrd="3" destOrd="0" presId="urn:microsoft.com/office/officeart/2018/2/layout/IconVerticalSolidList"/>
    <dgm:cxn modelId="{EF77B7F7-E13F-4C1A-99C3-28CB2749ABC6}" type="presParOf" srcId="{33CBF63E-FD9A-404A-A926-469AA841D775}" destId="{88B2CAC7-3BE6-4280-8B95-EFF2EAC5BCC2}" srcOrd="4" destOrd="0" presId="urn:microsoft.com/office/officeart/2018/2/layout/IconVerticalSolidList"/>
    <dgm:cxn modelId="{F6DE0913-5702-4672-A6E3-92D80C759B39}" type="presParOf" srcId="{88B2CAC7-3BE6-4280-8B95-EFF2EAC5BCC2}" destId="{F3387BAB-CBD4-42EC-A3AA-DF43B42834D7}" srcOrd="0" destOrd="0" presId="urn:microsoft.com/office/officeart/2018/2/layout/IconVerticalSolidList"/>
    <dgm:cxn modelId="{F0236BA3-37D6-4833-BF42-0F8F00332FB7}" type="presParOf" srcId="{88B2CAC7-3BE6-4280-8B95-EFF2EAC5BCC2}" destId="{31D3EB94-EBAD-4550-847D-3516CE0C20F5}" srcOrd="1" destOrd="0" presId="urn:microsoft.com/office/officeart/2018/2/layout/IconVerticalSolidList"/>
    <dgm:cxn modelId="{4ECB31B7-1ABC-4113-B7E6-F475CBA6F919}" type="presParOf" srcId="{88B2CAC7-3BE6-4280-8B95-EFF2EAC5BCC2}" destId="{CBB81465-F859-4F98-82A9-FBA6FEBFB6DF}" srcOrd="2" destOrd="0" presId="urn:microsoft.com/office/officeart/2018/2/layout/IconVerticalSolidList"/>
    <dgm:cxn modelId="{62EB958A-C5BE-4DBE-8FAE-69F6E4A90E5A}" type="presParOf" srcId="{88B2CAC7-3BE6-4280-8B95-EFF2EAC5BCC2}" destId="{F79FC988-B99A-4E58-A443-11E138349A6B}" srcOrd="3" destOrd="0" presId="urn:microsoft.com/office/officeart/2018/2/layout/IconVerticalSolidList"/>
    <dgm:cxn modelId="{8F173D42-C3C2-4D0A-9D36-EAD8FEA51154}" type="presParOf" srcId="{33CBF63E-FD9A-404A-A926-469AA841D775}" destId="{CEBF74A5-7FAB-409B-BEF5-F38FCCABF4D8}" srcOrd="5" destOrd="0" presId="urn:microsoft.com/office/officeart/2018/2/layout/IconVerticalSolidList"/>
    <dgm:cxn modelId="{AE1DF602-8358-443F-95DA-FC27DAA478C1}" type="presParOf" srcId="{33CBF63E-FD9A-404A-A926-469AA841D775}" destId="{93C5EAD4-41D0-4B77-B533-CA60A69AB2BE}" srcOrd="6" destOrd="0" presId="urn:microsoft.com/office/officeart/2018/2/layout/IconVerticalSolidList"/>
    <dgm:cxn modelId="{6E265F42-4257-4613-BB9A-09E8BB7BB943}" type="presParOf" srcId="{93C5EAD4-41D0-4B77-B533-CA60A69AB2BE}" destId="{A114BA16-F80F-4BDB-AB2C-6B52629B7179}" srcOrd="0" destOrd="0" presId="urn:microsoft.com/office/officeart/2018/2/layout/IconVerticalSolidList"/>
    <dgm:cxn modelId="{F329A3DE-EE6B-4D6D-B92A-A0B2823279C7}" type="presParOf" srcId="{93C5EAD4-41D0-4B77-B533-CA60A69AB2BE}" destId="{5FF0AC43-161B-4EBD-B88D-440EA676CCD3}" srcOrd="1" destOrd="0" presId="urn:microsoft.com/office/officeart/2018/2/layout/IconVerticalSolidList"/>
    <dgm:cxn modelId="{EDF4C4A4-64DE-45DA-8613-5DECDD71BF8C}" type="presParOf" srcId="{93C5EAD4-41D0-4B77-B533-CA60A69AB2BE}" destId="{41BC72DD-6A16-4F10-B711-9A5ECA738AF4}" srcOrd="2" destOrd="0" presId="urn:microsoft.com/office/officeart/2018/2/layout/IconVerticalSolidList"/>
    <dgm:cxn modelId="{EFF80D62-4CD5-4B39-A6BA-BB5FF06A2F8D}" type="presParOf" srcId="{93C5EAD4-41D0-4B77-B533-CA60A69AB2BE}" destId="{C44D1D83-ABB1-4BD6-ABED-29E3AAAFA91B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B42CD4-092D-4141-8300-E4B090A40D0C}">
      <dsp:nvSpPr>
        <dsp:cNvPr id="0" name=""/>
        <dsp:cNvSpPr/>
      </dsp:nvSpPr>
      <dsp:spPr>
        <a:xfrm>
          <a:off x="0" y="22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B4F07-950E-4D58-8732-C64F3F8B92EF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AF73B-9E42-4C7F-A45B-223C1D7C7944}">
      <dsp:nvSpPr>
        <dsp:cNvPr id="0" name=""/>
        <dsp:cNvSpPr/>
      </dsp:nvSpPr>
      <dsp:spPr>
        <a:xfrm>
          <a:off x="1337397" y="22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</a:t>
          </a:r>
          <a:r>
            <a:rPr lang="en-GB" sz="1800" kern="1200" dirty="0"/>
            <a:t>Built a RESTful API using </a:t>
          </a:r>
          <a:r>
            <a:rPr lang="en-GB" sz="1800" kern="1200" dirty="0" err="1"/>
            <a:t>FastAPI</a:t>
          </a:r>
          <a:r>
            <a:rPr lang="en-GB" sz="1800" kern="1200" dirty="0"/>
            <a:t> that accepts image uploads via multipart/form-data</a:t>
          </a:r>
          <a:endParaRPr lang="en-US" sz="1800" kern="1200" dirty="0"/>
        </a:p>
      </dsp:txBody>
      <dsp:txXfrm>
        <a:off x="1337397" y="2284"/>
        <a:ext cx="3360332" cy="1157919"/>
      </dsp:txXfrm>
    </dsp:sp>
    <dsp:sp modelId="{D3300A14-5D97-41DB-9077-371B31DE8D55}">
      <dsp:nvSpPr>
        <dsp:cNvPr id="0" name=""/>
        <dsp:cNvSpPr/>
      </dsp:nvSpPr>
      <dsp:spPr>
        <a:xfrm>
          <a:off x="0" y="14496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BCEAE-9BE1-4E72-880C-967E70943AFA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3A7EF-0907-4D02-B47C-F7204CF2C024}">
      <dsp:nvSpPr>
        <dsp:cNvPr id="0" name=""/>
        <dsp:cNvSpPr/>
      </dsp:nvSpPr>
      <dsp:spPr>
        <a:xfrm>
          <a:off x="1337397" y="14496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Endpoint: /predict accepts image files</a:t>
          </a:r>
        </a:p>
      </dsp:txBody>
      <dsp:txXfrm>
        <a:off x="1337397" y="1449684"/>
        <a:ext cx="3360332" cy="1157919"/>
      </dsp:txXfrm>
    </dsp:sp>
    <dsp:sp modelId="{F3387BAB-CBD4-42EC-A3AA-DF43B42834D7}">
      <dsp:nvSpPr>
        <dsp:cNvPr id="0" name=""/>
        <dsp:cNvSpPr/>
      </dsp:nvSpPr>
      <dsp:spPr>
        <a:xfrm>
          <a:off x="0" y="28970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D3EB94-EBAD-4550-847D-3516CE0C20F5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FC988-B99A-4E58-A443-11E138349A6B}">
      <dsp:nvSpPr>
        <dsp:cNvPr id="0" name=""/>
        <dsp:cNvSpPr/>
      </dsp:nvSpPr>
      <dsp:spPr>
        <a:xfrm>
          <a:off x="1337397" y="28970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Swagger UI auto-generated at /docs</a:t>
          </a:r>
        </a:p>
      </dsp:txBody>
      <dsp:txXfrm>
        <a:off x="1337397" y="2897083"/>
        <a:ext cx="3360332" cy="1157919"/>
      </dsp:txXfrm>
    </dsp:sp>
    <dsp:sp modelId="{A114BA16-F80F-4BDB-AB2C-6B52629B7179}">
      <dsp:nvSpPr>
        <dsp:cNvPr id="0" name=""/>
        <dsp:cNvSpPr/>
      </dsp:nvSpPr>
      <dsp:spPr>
        <a:xfrm>
          <a:off x="0" y="43444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0AC43-161B-4EBD-B88D-440EA676CCD3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D1D83-ABB1-4BD6-ABED-29E3AAAFA91B}">
      <dsp:nvSpPr>
        <dsp:cNvPr id="0" name=""/>
        <dsp:cNvSpPr/>
      </dsp:nvSpPr>
      <dsp:spPr>
        <a:xfrm>
          <a:off x="1337397" y="43444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Returns predicted class and confidence score</a:t>
          </a:r>
        </a:p>
      </dsp:txBody>
      <dsp:txXfrm>
        <a:off x="1337397" y="4344483"/>
        <a:ext cx="3360332" cy="1157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myaSP6/waste-classifier-api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7800" dirty="0"/>
              <a:t>Waste Classification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935634" cy="1312657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2200" dirty="0"/>
              <a:t>Deep Learning • </a:t>
            </a:r>
            <a:r>
              <a:rPr lang="en-GB" sz="2200" dirty="0" err="1"/>
              <a:t>FastAPI</a:t>
            </a:r>
            <a:r>
              <a:rPr lang="en-GB" sz="2200" dirty="0"/>
              <a:t> • Docker • Kubernetes</a:t>
            </a:r>
          </a:p>
          <a:p>
            <a:pPr algn="l">
              <a:lnSpc>
                <a:spcPct val="90000"/>
              </a:lnSpc>
            </a:pPr>
            <a:r>
              <a:rPr lang="en-GB" sz="1600" dirty="0"/>
              <a:t> - A Real-Time Deep Learning Deployment for Environmental Impact</a:t>
            </a:r>
          </a:p>
          <a:p>
            <a:pPr algn="l">
              <a:lnSpc>
                <a:spcPct val="90000"/>
              </a:lnSpc>
            </a:pPr>
            <a:r>
              <a:rPr lang="en-GB" sz="2200" dirty="0"/>
              <a:t>By Ramya Subramanian </a:t>
            </a:r>
            <a:r>
              <a:rPr lang="en-GB" sz="2200" dirty="0" err="1"/>
              <a:t>Porselva</a:t>
            </a:r>
            <a:r>
              <a:rPr lang="en-GB" sz="2200" dirty="0"/>
              <a:t> Bharathi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769" y="831274"/>
            <a:ext cx="7778337" cy="7362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dirty="0"/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1" y="1567545"/>
            <a:ext cx="7075664" cy="4202320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en-GB" sz="1500" dirty="0"/>
              <a:t>This project aims to automate waste classification using deep learning, making recycling smarter and scalable.</a:t>
            </a:r>
          </a:p>
          <a:p>
            <a:pPr marL="0" indent="0" algn="just">
              <a:buNone/>
            </a:pPr>
            <a:r>
              <a:rPr lang="en-GB" sz="1500" b="1" dirty="0"/>
              <a:t>Environmental Urgency</a:t>
            </a:r>
            <a:endParaRPr lang="en-GB" sz="1500" dirty="0"/>
          </a:p>
          <a:p>
            <a:pPr marL="0" indent="0" algn="just">
              <a:buNone/>
            </a:pPr>
            <a:r>
              <a:rPr lang="en-GB" sz="1500" dirty="0"/>
              <a:t>Global waste production is rising rapidly, expected to reach </a:t>
            </a:r>
            <a:r>
              <a:rPr lang="en-GB" sz="1500" b="1" dirty="0"/>
              <a:t>3.4 billion tons by 2050</a:t>
            </a:r>
            <a:r>
              <a:rPr lang="en-GB" sz="1500" dirty="0"/>
              <a:t>. Mismanaged waste contributes to </a:t>
            </a:r>
            <a:r>
              <a:rPr lang="en-GB" sz="1500" b="1" dirty="0"/>
              <a:t>pollution, health hazards, and climate change</a:t>
            </a:r>
            <a:r>
              <a:rPr lang="en-GB" sz="1500" dirty="0"/>
              <a:t>.</a:t>
            </a:r>
          </a:p>
          <a:p>
            <a:pPr marL="0" indent="0" algn="just">
              <a:buNone/>
            </a:pPr>
            <a:r>
              <a:rPr lang="en-GB" sz="1500" b="1" dirty="0"/>
              <a:t>Circular Economy Challenge</a:t>
            </a:r>
            <a:endParaRPr lang="en-GB" sz="1500" dirty="0"/>
          </a:p>
          <a:p>
            <a:pPr marL="0" indent="0" algn="just">
              <a:buNone/>
            </a:pPr>
            <a:r>
              <a:rPr lang="en-GB" sz="1500" dirty="0"/>
              <a:t>Circular economies (e.g., </a:t>
            </a:r>
            <a:r>
              <a:rPr lang="en-GB" sz="1500" b="1" dirty="0"/>
              <a:t>TOMRA's mission</a:t>
            </a:r>
            <a:r>
              <a:rPr lang="en-GB" sz="1500" dirty="0"/>
              <a:t>) rely on </a:t>
            </a:r>
            <a:r>
              <a:rPr lang="en-GB" sz="1500" b="1" dirty="0"/>
              <a:t>efficient waste sorting and recycling</a:t>
            </a:r>
            <a:r>
              <a:rPr lang="en-GB" sz="1500" dirty="0"/>
              <a:t>. Manual sorting is </a:t>
            </a:r>
            <a:r>
              <a:rPr lang="en-GB" sz="1500" b="1" dirty="0"/>
              <a:t>slow, error-prone, and </a:t>
            </a:r>
            <a:r>
              <a:rPr lang="en-GB" sz="1500" b="1" dirty="0" err="1"/>
              <a:t>labor-intensive</a:t>
            </a:r>
            <a:r>
              <a:rPr lang="en-GB" sz="1500" dirty="0"/>
              <a:t>.</a:t>
            </a:r>
          </a:p>
          <a:p>
            <a:pPr marL="0" indent="0" algn="just">
              <a:buNone/>
            </a:pPr>
            <a:r>
              <a:rPr lang="en-GB" sz="1500" b="1" dirty="0"/>
              <a:t>The Need for Smart Waste Sorting</a:t>
            </a:r>
            <a:endParaRPr lang="en-GB" sz="1500" dirty="0"/>
          </a:p>
          <a:p>
            <a:pPr marL="0" indent="0" algn="just">
              <a:buNone/>
            </a:pPr>
            <a:r>
              <a:rPr lang="en-GB" sz="1500" dirty="0"/>
              <a:t>AI-powered solutions can </a:t>
            </a:r>
            <a:r>
              <a:rPr lang="en-GB" sz="1500" b="1" dirty="0"/>
              <a:t>automate the classification</a:t>
            </a:r>
            <a:r>
              <a:rPr lang="en-GB" sz="1500" dirty="0"/>
              <a:t> of waste at recycling </a:t>
            </a:r>
            <a:r>
              <a:rPr lang="en-GB" sz="1500" dirty="0" err="1"/>
              <a:t>centers</a:t>
            </a:r>
            <a:r>
              <a:rPr lang="en-GB" sz="1500" dirty="0"/>
              <a:t>. Improves </a:t>
            </a:r>
            <a:r>
              <a:rPr lang="en-GB" sz="1500" b="1" dirty="0"/>
              <a:t>recycling efficiency</a:t>
            </a:r>
            <a:r>
              <a:rPr lang="en-GB" sz="1500" dirty="0"/>
              <a:t>, </a:t>
            </a:r>
            <a:r>
              <a:rPr lang="en-GB" sz="1500" b="1" dirty="0"/>
              <a:t>reduces contamination</a:t>
            </a:r>
            <a:r>
              <a:rPr lang="en-GB" sz="1500" dirty="0"/>
              <a:t>, and promotes </a:t>
            </a:r>
            <a:r>
              <a:rPr lang="en-GB" sz="1500" b="1" dirty="0"/>
              <a:t>sustainability</a:t>
            </a:r>
            <a:r>
              <a:rPr lang="en-GB" sz="1500" dirty="0"/>
              <a:t>.</a:t>
            </a:r>
          </a:p>
          <a:p>
            <a:pPr marL="0" indent="0" algn="just">
              <a:buNone/>
            </a:pPr>
            <a:r>
              <a:rPr lang="en-GB" sz="1500" b="1" dirty="0"/>
              <a:t>Role of Machine Learning</a:t>
            </a:r>
            <a:endParaRPr lang="en-GB" sz="1500" dirty="0"/>
          </a:p>
          <a:p>
            <a:pPr marL="0" indent="0" algn="just">
              <a:buNone/>
            </a:pPr>
            <a:r>
              <a:rPr lang="en-GB" sz="1500" dirty="0"/>
              <a:t>Machine Learning models can </a:t>
            </a:r>
            <a:r>
              <a:rPr lang="en-GB" sz="1500" b="1" dirty="0"/>
              <a:t>classify waste images like</a:t>
            </a:r>
            <a:r>
              <a:rPr lang="en-GB" sz="1500" dirty="0"/>
              <a:t> plastic, glass, metal, etc. Enables real-time predictions for </a:t>
            </a:r>
            <a:r>
              <a:rPr lang="en-GB" sz="1500" b="1" dirty="0"/>
              <a:t>automated waste segregation systems</a:t>
            </a:r>
            <a:r>
              <a:rPr lang="en-GB" sz="15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AC81E-2054-02E6-CF27-76292482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B1CCF5C-144E-071F-378E-B0D2EB151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767EF5F2-A006-65D7-BB5D-28A4B9AF9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ECEB67-18F3-3BA8-0A62-38F5AFFBD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541EE-F56E-7A92-6C72-689FCB75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30" y="623275"/>
            <a:ext cx="8178790" cy="991769"/>
          </a:xfrm>
        </p:spPr>
        <p:txBody>
          <a:bodyPr anchor="ctr">
            <a:normAutofit fontScale="90000"/>
          </a:bodyPr>
          <a:lstStyle/>
          <a:p>
            <a:r>
              <a:rPr lang="en-GB" sz="6300" dirty="0"/>
              <a:t>Technical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1C54-A965-C176-9C35-D8D10B628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615044"/>
            <a:ext cx="7170667" cy="3335867"/>
          </a:xfrm>
        </p:spPr>
        <p:txBody>
          <a:bodyPr anchor="t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/>
              <a:t>Python - </a:t>
            </a:r>
            <a:r>
              <a:rPr lang="en-GB" sz="1500" dirty="0"/>
              <a:t>A Core programming language used for model development and API integration.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/>
              <a:t>TensorFlow &amp; </a:t>
            </a:r>
            <a:r>
              <a:rPr lang="en-GB" sz="1500" b="1" dirty="0" err="1"/>
              <a:t>Keras</a:t>
            </a:r>
            <a:r>
              <a:rPr lang="en-GB" sz="1500" b="1" dirty="0"/>
              <a:t>- </a:t>
            </a:r>
            <a:r>
              <a:rPr lang="en-GB" sz="1500" dirty="0"/>
              <a:t>Used to build and train the convolutional neural network (CNN) for image classification.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 err="1"/>
              <a:t>FastAPI</a:t>
            </a:r>
            <a:r>
              <a:rPr lang="en-GB" sz="1500" b="1" dirty="0"/>
              <a:t> - </a:t>
            </a:r>
            <a:r>
              <a:rPr lang="en-GB" sz="1500" dirty="0"/>
              <a:t>A Lightweight, high-performance web framework used to serve the ML model via REST API.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/>
              <a:t>Docker - </a:t>
            </a:r>
            <a:r>
              <a:rPr lang="en-GB" sz="1500" dirty="0"/>
              <a:t>Containerized the ML application to ensure portability and environment consistency.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/>
              <a:t>Kubernetes (</a:t>
            </a:r>
            <a:r>
              <a:rPr lang="en-GB" sz="1500" b="1" dirty="0" err="1"/>
              <a:t>Minikube</a:t>
            </a:r>
            <a:r>
              <a:rPr lang="en-GB" sz="1500" b="1" dirty="0"/>
              <a:t>) - </a:t>
            </a:r>
            <a:r>
              <a:rPr lang="en-GB" sz="1500" dirty="0"/>
              <a:t>Used for local container orchestration and scaling, simulating real-world deployment scenarios.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/>
              <a:t>NumPy - </a:t>
            </a:r>
            <a:r>
              <a:rPr lang="en-GB" sz="1500" dirty="0"/>
              <a:t>Used for handling image arrays and numerical operations.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/>
              <a:t>Pillow - </a:t>
            </a:r>
            <a:r>
              <a:rPr lang="en-GB" sz="1500" dirty="0"/>
              <a:t>Used to preprocess uploaded image files before feeding them into the ML model.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 err="1"/>
              <a:t>Uvicorn</a:t>
            </a:r>
            <a:r>
              <a:rPr lang="en-GB" sz="1500" b="1" dirty="0"/>
              <a:t> - </a:t>
            </a:r>
            <a:r>
              <a:rPr lang="en-GB" sz="1500" dirty="0"/>
              <a:t>A lightning-fast ASGI server used to deploy the </a:t>
            </a:r>
            <a:r>
              <a:rPr lang="en-GB" sz="1500" dirty="0" err="1"/>
              <a:t>FastAPI</a:t>
            </a:r>
            <a:r>
              <a:rPr lang="en-GB" sz="1500" dirty="0"/>
              <a:t> app locally and within the Docker container.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500" b="1" dirty="0"/>
              <a:t>Git &amp; GitHub for version control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24537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GB" sz="63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algn="just"/>
            <a:r>
              <a:rPr lang="en-GB" sz="2100" dirty="0"/>
              <a:t>- Trained CNN model to classify waste images (plastic, paper, glass, etc.)</a:t>
            </a:r>
          </a:p>
          <a:p>
            <a:pPr algn="just"/>
            <a:r>
              <a:rPr lang="en-GB" sz="2100" dirty="0"/>
              <a:t>- Served model via </a:t>
            </a:r>
            <a:r>
              <a:rPr lang="en-GB" sz="2100" dirty="0" err="1"/>
              <a:t>FastAPI</a:t>
            </a:r>
            <a:r>
              <a:rPr lang="en-GB" sz="2100" dirty="0"/>
              <a:t> for real-time predictions</a:t>
            </a:r>
          </a:p>
          <a:p>
            <a:pPr algn="just"/>
            <a:r>
              <a:rPr lang="en-GB" sz="2100" dirty="0"/>
              <a:t>- Containerized with Docker</a:t>
            </a:r>
          </a:p>
          <a:p>
            <a:pPr algn="just"/>
            <a:r>
              <a:rPr lang="en-GB" sz="2100" dirty="0"/>
              <a:t>- Deployed using Kubernetes (</a:t>
            </a:r>
            <a:r>
              <a:rPr lang="en-GB" sz="2100" dirty="0" err="1"/>
              <a:t>Minikube</a:t>
            </a:r>
            <a:r>
              <a:rPr lang="en-GB" sz="2100" dirty="0"/>
              <a:t>)</a:t>
            </a:r>
          </a:p>
          <a:p>
            <a:pPr algn="just"/>
            <a:r>
              <a:rPr lang="en-GB" sz="2100" dirty="0"/>
              <a:t>- Exposed REST API via Swagger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1445" y="1188637"/>
            <a:ext cx="4389533" cy="15972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200"/>
              <a:t>Architecture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A54BB3-134D-E257-4F69-42532DAF5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95" y="1188637"/>
            <a:ext cx="2301733" cy="455788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9CB6E7C-42E7-E33F-0AA0-A39BE7D0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2998278"/>
            <a:ext cx="3321177" cy="2728198"/>
          </a:xfrm>
        </p:spPr>
        <p:txBody>
          <a:bodyPr anchor="t">
            <a:normAutofit/>
          </a:bodyPr>
          <a:lstStyle/>
          <a:p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30" y="623275"/>
            <a:ext cx="8178790" cy="956143"/>
          </a:xfrm>
        </p:spPr>
        <p:txBody>
          <a:bodyPr anchor="ctr">
            <a:normAutofit fontScale="90000"/>
          </a:bodyPr>
          <a:lstStyle/>
          <a:p>
            <a:r>
              <a:rPr lang="en-GB" sz="6300" dirty="0"/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524" y="1579419"/>
            <a:ext cx="7757595" cy="4651738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en-GB" sz="1800" b="1" dirty="0"/>
              <a:t>Dataset</a:t>
            </a:r>
            <a:r>
              <a:rPr lang="en-GB" sz="1800" dirty="0"/>
              <a:t>: Garbage Classification Dataset (Kaggle)</a:t>
            </a:r>
          </a:p>
          <a:p>
            <a:pPr marL="0" indent="0" algn="just">
              <a:buNone/>
            </a:pPr>
            <a:r>
              <a:rPr lang="en-GB" sz="1800" b="1" dirty="0"/>
              <a:t>Categories</a:t>
            </a:r>
            <a:r>
              <a:rPr lang="en-GB" sz="1800" dirty="0"/>
              <a:t> (6 classes): Cardboard, Plastic, Metal, Glass, Paper, Trash</a:t>
            </a:r>
          </a:p>
          <a:p>
            <a:pPr marL="0" indent="0" algn="just">
              <a:buNone/>
            </a:pPr>
            <a:r>
              <a:rPr lang="en-GB" sz="1800" b="1" dirty="0"/>
              <a:t>Directory Structure</a:t>
            </a:r>
            <a:r>
              <a:rPr lang="en-GB" sz="1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dirty="0"/>
              <a:t>Images were categorized into folders by class to facilitate model training</a:t>
            </a:r>
          </a:p>
          <a:p>
            <a:pPr marL="0" indent="0" algn="just">
              <a:buNone/>
            </a:pPr>
            <a:r>
              <a:rPr lang="en-GB" sz="1800" b="1" dirty="0"/>
              <a:t>Image Size</a:t>
            </a:r>
            <a:r>
              <a:rPr lang="en-GB" sz="1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dirty="0"/>
              <a:t>All images resized to </a:t>
            </a:r>
            <a:r>
              <a:rPr lang="en-GB" sz="1800" b="1" dirty="0"/>
              <a:t>150 × 150 pixels</a:t>
            </a:r>
            <a:endParaRPr lang="en-GB" sz="1800" dirty="0"/>
          </a:p>
          <a:p>
            <a:pPr marL="0" indent="0" algn="just">
              <a:buNone/>
            </a:pPr>
            <a:r>
              <a:rPr lang="en-GB" sz="1800" b="1" dirty="0"/>
              <a:t>Preprocessing Techniques</a:t>
            </a:r>
            <a:r>
              <a:rPr lang="en-GB" sz="1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dirty="0"/>
              <a:t>Rescaling pixel values (0–255 → 0–1)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dirty="0"/>
              <a:t>Normalization using </a:t>
            </a:r>
            <a:r>
              <a:rPr lang="en-GB" sz="1800" dirty="0" err="1"/>
              <a:t>ImageDataGenerator</a:t>
            </a:r>
            <a:endParaRPr lang="en-GB" sz="1800" dirty="0"/>
          </a:p>
          <a:p>
            <a:pPr marL="0" indent="0" algn="just">
              <a:buNone/>
            </a:pPr>
            <a:r>
              <a:rPr lang="en-GB" sz="1800" b="1" dirty="0"/>
              <a:t>Data Split</a:t>
            </a:r>
            <a:r>
              <a:rPr lang="en-GB" sz="1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dirty="0"/>
              <a:t>80% Training set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dirty="0"/>
              <a:t>20% Validation set</a:t>
            </a:r>
          </a:p>
          <a:p>
            <a:pPr marL="0" indent="0" algn="just">
              <a:buNone/>
            </a:pPr>
            <a:r>
              <a:rPr lang="en-GB" sz="1800" b="1" dirty="0"/>
              <a:t>Tool Used for Preprocessing</a:t>
            </a:r>
            <a:r>
              <a:rPr lang="en-GB" sz="1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dirty="0" err="1"/>
              <a:t>ImageDataGenerator</a:t>
            </a:r>
            <a:r>
              <a:rPr lang="en-GB" sz="1800" dirty="0"/>
              <a:t> from </a:t>
            </a:r>
            <a:r>
              <a:rPr lang="en-GB" sz="1800" dirty="0" err="1"/>
              <a:t>Keras</a:t>
            </a:r>
            <a:endParaRPr lang="en-GB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30" y="1650669"/>
            <a:ext cx="8178790" cy="4580487"/>
          </a:xfrm>
        </p:spPr>
        <p:txBody>
          <a:bodyPr anchor="ctr">
            <a:noAutofit/>
          </a:bodyPr>
          <a:lstStyle/>
          <a:p>
            <a:pPr algn="l"/>
            <a:r>
              <a:rPr lang="en-GB" sz="1400" b="1" dirty="0"/>
              <a:t>CNN Architecture - </a:t>
            </a:r>
            <a:r>
              <a:rPr lang="en-GB" sz="1400" dirty="0"/>
              <a:t>A </a:t>
            </a:r>
            <a:r>
              <a:rPr lang="en-GB" sz="1400" b="1" dirty="0"/>
              <a:t>Convolutional Neural Network (CNN)</a:t>
            </a:r>
            <a:r>
              <a:rPr lang="en-GB" sz="1400" dirty="0"/>
              <a:t> was designed to classify waste into 6 categories.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Architecture includes:</a:t>
            </a:r>
            <a:br>
              <a:rPr lang="en-GB" sz="1400" dirty="0"/>
            </a:br>
            <a:r>
              <a:rPr lang="en-GB" sz="1400" b="1" dirty="0"/>
              <a:t>3 Convolutional Layers</a:t>
            </a:r>
            <a:r>
              <a:rPr lang="en-GB" sz="1400" dirty="0"/>
              <a:t> (Conv2D): Extract spatial features using filters.</a:t>
            </a:r>
            <a:br>
              <a:rPr lang="en-GB" sz="1400" dirty="0"/>
            </a:br>
            <a:r>
              <a:rPr lang="en-GB" sz="1400" b="1" dirty="0" err="1"/>
              <a:t>MaxPooling</a:t>
            </a:r>
            <a:r>
              <a:rPr lang="en-GB" sz="1400" b="1" dirty="0"/>
              <a:t> Layers</a:t>
            </a:r>
            <a:r>
              <a:rPr lang="en-GB" sz="1400" dirty="0"/>
              <a:t> after each Conv layer: Reduce dimensionality and preserve key features.</a:t>
            </a:r>
            <a:br>
              <a:rPr lang="en-GB" sz="1400" dirty="0"/>
            </a:br>
            <a:r>
              <a:rPr lang="en-GB" sz="1400" b="1" dirty="0"/>
              <a:t>Flatten Layer</a:t>
            </a:r>
            <a:r>
              <a:rPr lang="en-GB" sz="1400" dirty="0"/>
              <a:t>: Converts 3D output to 1D for the dense layer.</a:t>
            </a:r>
            <a:br>
              <a:rPr lang="en-GB" sz="1400" dirty="0"/>
            </a:br>
            <a:r>
              <a:rPr lang="en-GB" sz="1400" b="1" dirty="0"/>
              <a:t>Dense Layer</a:t>
            </a:r>
            <a:r>
              <a:rPr lang="en-GB" sz="1400" dirty="0"/>
              <a:t>: Learns high-level feature patterns.</a:t>
            </a:r>
            <a:br>
              <a:rPr lang="en-GB" sz="1400" dirty="0"/>
            </a:br>
            <a:r>
              <a:rPr lang="en-GB" sz="1400" b="1" dirty="0" err="1"/>
              <a:t>Softmax</a:t>
            </a:r>
            <a:r>
              <a:rPr lang="en-GB" sz="1400" b="1" dirty="0"/>
              <a:t> Output Layer</a:t>
            </a:r>
            <a:r>
              <a:rPr lang="en-GB" sz="1400" dirty="0"/>
              <a:t>: Provides class probabilities for 6 waste</a:t>
            </a:r>
            <a:br>
              <a:rPr lang="en-GB" sz="1400" dirty="0"/>
            </a:br>
            <a:r>
              <a:rPr lang="en-GB" sz="1400" dirty="0"/>
              <a:t>categories.</a:t>
            </a:r>
            <a:br>
              <a:rPr lang="en-GB" sz="1400" dirty="0"/>
            </a:br>
            <a:br>
              <a:rPr lang="en-GB" sz="1400" dirty="0"/>
            </a:br>
            <a:r>
              <a:rPr lang="en-GB" sz="1400" b="1" dirty="0"/>
              <a:t>Training Configuration</a:t>
            </a:r>
            <a:br>
              <a:rPr lang="en-GB" sz="1400" b="1" dirty="0"/>
            </a:br>
            <a:r>
              <a:rPr lang="en-GB" sz="1400" b="1" dirty="0"/>
              <a:t>Optimizer</a:t>
            </a:r>
            <a:r>
              <a:rPr lang="en-GB" sz="1400" dirty="0"/>
              <a:t>: Adam</a:t>
            </a:r>
            <a:br>
              <a:rPr lang="en-GB" sz="1400" dirty="0"/>
            </a:br>
            <a:r>
              <a:rPr lang="en-GB" sz="1400" b="1" dirty="0"/>
              <a:t>Loss Function</a:t>
            </a:r>
            <a:r>
              <a:rPr lang="en-GB" sz="1400" dirty="0"/>
              <a:t>: Categorical Cross-Entropy</a:t>
            </a:r>
            <a:br>
              <a:rPr lang="en-GB" sz="1400" dirty="0"/>
            </a:br>
            <a:r>
              <a:rPr lang="en-GB" sz="1400" b="1" dirty="0"/>
              <a:t>Activation Functions</a:t>
            </a:r>
            <a:r>
              <a:rPr lang="en-GB" sz="1400" dirty="0"/>
              <a:t>: </a:t>
            </a:r>
            <a:r>
              <a:rPr lang="en-GB" sz="1400" dirty="0" err="1"/>
              <a:t>ReLU</a:t>
            </a:r>
            <a:r>
              <a:rPr lang="en-GB" sz="1400" dirty="0"/>
              <a:t> (hidden layers), </a:t>
            </a:r>
            <a:r>
              <a:rPr lang="en-GB" sz="1400" dirty="0" err="1"/>
              <a:t>Softmax</a:t>
            </a:r>
            <a:r>
              <a:rPr lang="en-GB" sz="1400" dirty="0"/>
              <a:t> </a:t>
            </a:r>
            <a:br>
              <a:rPr lang="en-GB" sz="1400" dirty="0"/>
            </a:br>
            <a:r>
              <a:rPr lang="en-GB" sz="1400" dirty="0"/>
              <a:t>(output layer)</a:t>
            </a:r>
            <a:br>
              <a:rPr lang="en-GB" sz="1400" dirty="0"/>
            </a:br>
            <a:br>
              <a:rPr lang="en-GB" sz="1400" dirty="0"/>
            </a:br>
            <a:r>
              <a:rPr lang="en-GB" sz="1400" b="1" dirty="0"/>
              <a:t>Output: </a:t>
            </a:r>
            <a:r>
              <a:rPr lang="en-GB" sz="1400" dirty="0"/>
              <a:t>The final model outputs a </a:t>
            </a:r>
            <a:r>
              <a:rPr lang="en-GB" sz="1400" b="1" dirty="0"/>
              <a:t>6-class probability </a:t>
            </a:r>
            <a:br>
              <a:rPr lang="en-GB" sz="1400" b="1" dirty="0"/>
            </a:br>
            <a:r>
              <a:rPr lang="en-GB" sz="1400" b="1" dirty="0"/>
              <a:t>distribution</a:t>
            </a:r>
            <a:r>
              <a:rPr lang="en-GB" sz="1400" dirty="0"/>
              <a:t> (cardboard, glass, metal, paper, plastic, trash).</a:t>
            </a:r>
            <a:br>
              <a:rPr lang="en-GB" sz="1400" dirty="0"/>
            </a:br>
            <a:endParaRPr lang="en-GB" sz="1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FCE70A-CF4F-DF0A-95E6-2BE172003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30" y="623276"/>
            <a:ext cx="8178790" cy="1027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700" dirty="0"/>
              <a:t>Model Architecture</a:t>
            </a:r>
            <a:endParaRPr lang="en-DE" sz="5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8A6F50-E008-929E-529B-77EE1A6AA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641" y="3713763"/>
            <a:ext cx="3329637" cy="23179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87369-DEB5-2241-C4B6-E26E4A40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62B0C5A-84E4-83DD-4799-9793E145A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C744F79A-7980-528F-A63D-B1A4FE5E8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E14B75-6EC4-FF48-3748-BDC572A6E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D1DA8-8128-46DE-CA1B-59CD7C5C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30" y="1650669"/>
            <a:ext cx="8178790" cy="4580487"/>
          </a:xfrm>
        </p:spPr>
        <p:txBody>
          <a:bodyPr anchor="ctr">
            <a:noAutofit/>
          </a:bodyPr>
          <a:lstStyle/>
          <a:p>
            <a:pPr lvl="0" algn="l"/>
            <a:r>
              <a:rPr lang="en-GB" sz="1600" b="1" dirty="0"/>
              <a:t>Model Training Summary</a:t>
            </a:r>
            <a:br>
              <a:rPr lang="en-GB" sz="1600" b="1" dirty="0"/>
            </a:br>
            <a:r>
              <a:rPr lang="en-GB" sz="1600" b="1" dirty="0"/>
              <a:t>Number of Epochs</a:t>
            </a:r>
            <a:r>
              <a:rPr lang="en-GB" sz="1600" dirty="0"/>
              <a:t>: Trained for 30 epochs with early stopping</a:t>
            </a:r>
            <a:br>
              <a:rPr lang="en-GB" sz="1600" dirty="0"/>
            </a:br>
            <a:r>
              <a:rPr lang="en-GB" sz="1600" b="1" dirty="0"/>
              <a:t>Batch Size</a:t>
            </a:r>
            <a:r>
              <a:rPr lang="en-GB" sz="1600" dirty="0"/>
              <a:t>: 32</a:t>
            </a:r>
            <a:br>
              <a:rPr lang="en-GB" sz="1600" dirty="0"/>
            </a:br>
            <a:br>
              <a:rPr lang="en-GB" sz="1600" dirty="0"/>
            </a:br>
            <a:r>
              <a:rPr lang="en-GB" sz="1600" b="1" dirty="0"/>
              <a:t>Accuracy &amp; Loss Curves</a:t>
            </a:r>
            <a:br>
              <a:rPr lang="en-GB" sz="1600" b="1" dirty="0"/>
            </a:br>
            <a:r>
              <a:rPr lang="en-GB" sz="1600" dirty="0"/>
              <a:t>Training and validation accuracy steadily improved across epochs.</a:t>
            </a:r>
            <a:br>
              <a:rPr lang="en-GB" sz="1600" dirty="0"/>
            </a:br>
            <a:r>
              <a:rPr lang="en-GB" sz="1600" dirty="0"/>
              <a:t>Loss decreased consistently with minimal overfitting.</a:t>
            </a:r>
            <a:br>
              <a:rPr lang="en-GB" sz="1600" dirty="0"/>
            </a:br>
            <a:br>
              <a:rPr lang="en-GB" sz="1600" dirty="0"/>
            </a:br>
            <a:r>
              <a:rPr lang="en-GB" sz="1600" b="1" dirty="0"/>
              <a:t>Class Mapping Output</a:t>
            </a:r>
            <a:br>
              <a:rPr lang="en-GB" sz="1600" dirty="0"/>
            </a:br>
            <a:r>
              <a:rPr lang="en-GB" sz="1600" dirty="0"/>
              <a:t>print("Class indices:", </a:t>
            </a:r>
            <a:r>
              <a:rPr lang="en-GB" sz="1600" dirty="0" err="1"/>
              <a:t>train_data.class_indices</a:t>
            </a:r>
            <a:r>
              <a:rPr lang="en-GB" sz="1600" dirty="0"/>
              <a:t>) </a:t>
            </a:r>
            <a:br>
              <a:rPr lang="en-GB" sz="1600" dirty="0"/>
            </a:br>
            <a:r>
              <a:rPr lang="en-GB" sz="1600" dirty="0"/>
              <a:t>Output:</a:t>
            </a:r>
            <a:br>
              <a:rPr lang="en-GB" sz="1600" dirty="0"/>
            </a:br>
            <a:r>
              <a:rPr lang="en-GB" sz="1600" dirty="0"/>
              <a:t>{'cardboard': 0, 'glass': 1, 'metal': 2, 'paper': 3, 'plastic': 4, 'trash': 5}</a:t>
            </a:r>
            <a:br>
              <a:rPr lang="en-GB" sz="1600" dirty="0"/>
            </a:br>
            <a:r>
              <a:rPr lang="en-GB" sz="1600" dirty="0"/>
              <a:t>Output: waste_classifier.h5 (saved model)</a:t>
            </a:r>
            <a:br>
              <a:rPr lang="en-GB" sz="1600" dirty="0"/>
            </a:br>
            <a:r>
              <a:rPr lang="en-GB" sz="1600" dirty="0"/>
              <a:t>Class labels saved in </a:t>
            </a:r>
            <a:r>
              <a:rPr lang="en-GB" sz="1600" dirty="0" err="1"/>
              <a:t>class_names.txt</a:t>
            </a:r>
            <a:endParaRPr lang="en-GB" sz="1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C3D1E1-FB67-D048-5D07-286CED88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30" y="623276"/>
            <a:ext cx="8178790" cy="1027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700" dirty="0"/>
              <a:t>Training &amp; Evaluation</a:t>
            </a:r>
            <a:endParaRPr lang="en-DE" sz="5700" dirty="0"/>
          </a:p>
        </p:txBody>
      </p:sp>
    </p:spTree>
    <p:extLst>
      <p:ext uri="{BB962C8B-B14F-4D97-AF65-F5344CB8AC3E}">
        <p14:creationId xmlns:p14="http://schemas.microsoft.com/office/powerpoint/2010/main" val="328282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GB" sz="3800" dirty="0" err="1"/>
              <a:t>FastAPI</a:t>
            </a:r>
            <a:r>
              <a:rPr lang="en-GB" sz="3800" dirty="0"/>
              <a:t>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99A2B8-8A66-C50E-E15E-7D4B4070EB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894979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E278B-E013-6260-FA34-82DE3AEE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A8ED25B-EA5A-15A4-D515-B4B2F85A9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BD163-D430-253A-2473-93BF216C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0"/>
            <a:ext cx="7549592" cy="1685378"/>
          </a:xfrm>
        </p:spPr>
        <p:txBody>
          <a:bodyPr anchor="b">
            <a:normAutofit/>
          </a:bodyPr>
          <a:lstStyle/>
          <a:p>
            <a:r>
              <a:rPr lang="en-GB" sz="4200" dirty="0"/>
              <a:t>Docker Containerization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C3322B4-9772-939D-99AD-7CD4EE689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55258A1-0810-D54C-0D10-FEB15795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F2E5C-317C-1395-A19B-3FC26113B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2685009"/>
          </a:xfrm>
        </p:spPr>
        <p:txBody>
          <a:bodyPr anchor="ctr">
            <a:noAutofit/>
          </a:bodyPr>
          <a:lstStyle/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Defines app environment using </a:t>
            </a:r>
            <a:r>
              <a:rPr lang="en-US" sz="1400" dirty="0" err="1"/>
              <a:t>Dockerfile</a:t>
            </a:r>
            <a:r>
              <a:rPr lang="en-US" sz="1400" dirty="0"/>
              <a:t>.</a:t>
            </a:r>
          </a:p>
          <a:p>
            <a:r>
              <a:rPr lang="en-US" sz="1400" dirty="0"/>
              <a:t>Copies app and model directories into the container.</a:t>
            </a:r>
          </a:p>
          <a:p>
            <a:r>
              <a:rPr lang="en-US" sz="1400" dirty="0"/>
              <a:t>Installs dependencies from </a:t>
            </a:r>
            <a:r>
              <a:rPr lang="en-US" sz="1400" dirty="0" err="1"/>
              <a:t>requirements.txt</a:t>
            </a:r>
            <a:r>
              <a:rPr lang="en-US" sz="1400" dirty="0"/>
              <a:t>.</a:t>
            </a:r>
          </a:p>
          <a:p>
            <a:r>
              <a:rPr lang="en-US" sz="1400" dirty="0"/>
              <a:t>Runs </a:t>
            </a:r>
            <a:r>
              <a:rPr lang="en-US" sz="1400" dirty="0" err="1"/>
              <a:t>Uvicorn</a:t>
            </a:r>
            <a:r>
              <a:rPr lang="en-US" sz="1400" dirty="0"/>
              <a:t> server on port 8000.</a:t>
            </a:r>
          </a:p>
          <a:p>
            <a:r>
              <a:rPr lang="en-US" sz="1400" dirty="0"/>
              <a:t>Installs TensorFlow, </a:t>
            </a:r>
            <a:r>
              <a:rPr lang="en-US" sz="1400" dirty="0" err="1"/>
              <a:t>FastAPI</a:t>
            </a:r>
            <a:r>
              <a:rPr lang="en-US" sz="1400" dirty="0"/>
              <a:t>, and other dependencies.</a:t>
            </a:r>
          </a:p>
          <a:p>
            <a:r>
              <a:rPr lang="en-GB" sz="1400" dirty="0"/>
              <a:t>Docker image is built using: docker build -t waste-classifier-</a:t>
            </a:r>
            <a:r>
              <a:rPr lang="en-GB" sz="1400" dirty="0" err="1"/>
              <a:t>api</a:t>
            </a:r>
            <a:r>
              <a:rPr lang="en-GB" sz="1400" dirty="0"/>
              <a:t> .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317D949-D6F2-E609-19F7-A412C195E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645EB-171A-BFCD-B2DF-DF9E3A8D6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361" y="2599509"/>
            <a:ext cx="4103872" cy="2685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789E5B-79C2-8B08-1D1C-91B3B2986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97" y="5680949"/>
            <a:ext cx="7772400" cy="554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1AADB5-FDFF-D66E-3711-860F00938C9E}"/>
              </a:ext>
            </a:extLst>
          </p:cNvPr>
          <p:cNvSpPr txBox="1"/>
          <p:nvPr/>
        </p:nvSpPr>
        <p:spPr>
          <a:xfrm>
            <a:off x="4460361" y="2203079"/>
            <a:ext cx="4077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Dockerfile</a:t>
            </a:r>
            <a:r>
              <a:rPr lang="en-US" sz="1800" dirty="0"/>
              <a:t> content </a:t>
            </a:r>
          </a:p>
          <a:p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A8EE3-B6C0-E75A-07B1-DC0CCD04A23E}"/>
              </a:ext>
            </a:extLst>
          </p:cNvPr>
          <p:cNvSpPr txBox="1"/>
          <p:nvPr/>
        </p:nvSpPr>
        <p:spPr>
          <a:xfrm>
            <a:off x="638797" y="5201392"/>
            <a:ext cx="372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 of docker images: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7966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GB" sz="4200"/>
              <a:t>Kubernetes Deployment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dirty="0" err="1"/>
              <a:t>deployment.yaml</a:t>
            </a:r>
            <a:r>
              <a:rPr lang="en-GB" sz="1700" dirty="0"/>
              <a:t>:</a:t>
            </a:r>
            <a:br>
              <a:rPr lang="en-GB" sz="1700" dirty="0"/>
            </a:br>
            <a:r>
              <a:rPr lang="en-GB" sz="1700" dirty="0"/>
              <a:t>▪ 1 replica</a:t>
            </a:r>
            <a:br>
              <a:rPr lang="en-GB" sz="1700" dirty="0"/>
            </a:br>
            <a:r>
              <a:rPr lang="en-GB" sz="1700" dirty="0"/>
              <a:t>▪ Container port: 8000</a:t>
            </a:r>
            <a:br>
              <a:rPr lang="en-GB" sz="1700" dirty="0"/>
            </a:br>
            <a:r>
              <a:rPr lang="en-GB" sz="1700" dirty="0"/>
              <a:t>▪ </a:t>
            </a:r>
            <a:r>
              <a:rPr lang="en-GB" sz="1700" dirty="0" err="1"/>
              <a:t>imagePullPolicy</a:t>
            </a:r>
            <a:r>
              <a:rPr lang="en-GB" sz="1700" dirty="0"/>
              <a:t>: Never</a:t>
            </a:r>
          </a:p>
          <a:p>
            <a:pPr marL="0" indent="0">
              <a:buNone/>
            </a:pPr>
            <a:r>
              <a:rPr lang="en-GB" sz="1700" dirty="0" err="1"/>
              <a:t>service.yaml</a:t>
            </a:r>
            <a:r>
              <a:rPr lang="en-GB" sz="1700" dirty="0"/>
              <a:t>:</a:t>
            </a:r>
            <a:br>
              <a:rPr lang="en-GB" sz="1700" dirty="0"/>
            </a:br>
            <a:r>
              <a:rPr lang="en-GB" sz="1700" dirty="0"/>
              <a:t>▪ Exposes </a:t>
            </a:r>
            <a:r>
              <a:rPr lang="en-GB" sz="1700" dirty="0" err="1"/>
              <a:t>NodePort</a:t>
            </a:r>
            <a:r>
              <a:rPr lang="en-GB" sz="1700" dirty="0"/>
              <a:t> on 30080</a:t>
            </a:r>
          </a:p>
          <a:p>
            <a:pPr marL="0" indent="0">
              <a:buNone/>
            </a:pPr>
            <a:r>
              <a:rPr lang="en-GB" sz="1700" dirty="0" err="1"/>
              <a:t>Minikube</a:t>
            </a:r>
            <a:r>
              <a:rPr lang="en-GB" sz="1700" dirty="0"/>
              <a:t>:</a:t>
            </a:r>
            <a:br>
              <a:rPr lang="en-GB" sz="1700" dirty="0"/>
            </a:br>
            <a:r>
              <a:rPr lang="en-GB" sz="1700" dirty="0"/>
              <a:t>▪ Used to host the app locally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D8AC19-4FA3-CBE4-A29A-04A4FD4C8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93419" y="2780069"/>
            <a:ext cx="4302937" cy="243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68" y="0"/>
            <a:ext cx="3780214" cy="517897"/>
          </a:xfrm>
        </p:spPr>
        <p:txBody>
          <a:bodyPr anchor="b">
            <a:normAutofit fontScale="90000"/>
          </a:bodyPr>
          <a:lstStyle/>
          <a:p>
            <a:r>
              <a:rPr lang="en-GB" sz="3500" dirty="0"/>
              <a:t>Live API Demo</a:t>
            </a: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581812" y="2565677"/>
            <a:ext cx="5153812" cy="3574921"/>
          </a:xfrm>
        </p:spPr>
        <p:txBody>
          <a:bodyPr anchor="ctr">
            <a:normAutofit/>
          </a:bodyPr>
          <a:lstStyle/>
          <a:p>
            <a:endParaRPr lang="en-DE" sz="1700"/>
          </a:p>
          <a:p>
            <a:endParaRPr lang="en-DE" sz="1700"/>
          </a:p>
          <a:p>
            <a:pPr marL="0" indent="0">
              <a:buNone/>
            </a:pPr>
            <a:endParaRPr lang="en-DE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4298F-D037-CD22-787B-06E256E8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68" y="517897"/>
            <a:ext cx="8326374" cy="58579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037D3-3E7E-08C8-C2F9-6DB338B8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B9333CF5-15C4-C348-8D46-9F26BABBB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3F5D9658-8536-DBB0-4352-E410C53F5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BB7F45D0-FFE2-D8F8-0058-A496DBF50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13A04721-A913-1ABA-8DA2-368EC334A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48AF1590-CFBE-AA30-7299-266A26B96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58F3E-60AD-2844-BA32-6C55D654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68" y="0"/>
            <a:ext cx="3780214" cy="517897"/>
          </a:xfrm>
        </p:spPr>
        <p:txBody>
          <a:bodyPr anchor="b">
            <a:normAutofit fontScale="90000"/>
          </a:bodyPr>
          <a:lstStyle/>
          <a:p>
            <a:r>
              <a:rPr lang="en-GB" sz="3500" dirty="0"/>
              <a:t>Live API Demo</a:t>
            </a: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67F1059D-92EA-7362-0C5D-2BE2BC23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5942-416E-403A-3DB6-41DE229E5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81812" y="2565677"/>
            <a:ext cx="5153812" cy="3574921"/>
          </a:xfrm>
        </p:spPr>
        <p:txBody>
          <a:bodyPr anchor="ctr">
            <a:normAutofit/>
          </a:bodyPr>
          <a:lstStyle/>
          <a:p>
            <a:endParaRPr lang="en-DE" sz="1700"/>
          </a:p>
          <a:p>
            <a:endParaRPr lang="en-DE" sz="1700"/>
          </a:p>
          <a:p>
            <a:pPr marL="0" indent="0">
              <a:buNone/>
            </a:pPr>
            <a:endParaRPr lang="en-DE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ED61E-F037-5C91-FAF7-FA6B2600D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45" y="517897"/>
            <a:ext cx="8292947" cy="582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20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30" y="623276"/>
            <a:ext cx="8178790" cy="107489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700" dirty="0"/>
              <a:t>Learnings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1" y="1698173"/>
            <a:ext cx="6707530" cy="4071692"/>
          </a:xfrm>
        </p:spPr>
        <p:txBody>
          <a:bodyPr anchor="t">
            <a:normAutofit lnSpcReduction="10000"/>
          </a:bodyPr>
          <a:lstStyle/>
          <a:p>
            <a:pPr marL="0" indent="0" algn="just">
              <a:buNone/>
            </a:pPr>
            <a:r>
              <a:rPr lang="en-GB" sz="1600" b="1" dirty="0"/>
              <a:t>Learnings</a:t>
            </a:r>
          </a:p>
          <a:p>
            <a:pPr algn="just"/>
            <a:r>
              <a:rPr lang="en-GB" sz="1300" dirty="0"/>
              <a:t>Gained hands-on experience building </a:t>
            </a:r>
            <a:r>
              <a:rPr lang="en-GB" sz="1300" b="1" dirty="0"/>
              <a:t>RESTful APIs</a:t>
            </a:r>
            <a:r>
              <a:rPr lang="en-GB" sz="1300" dirty="0"/>
              <a:t> with </a:t>
            </a:r>
            <a:r>
              <a:rPr lang="en-GB" sz="1300" b="1" dirty="0" err="1"/>
              <a:t>FastAPI</a:t>
            </a:r>
            <a:endParaRPr lang="en-GB" sz="1300" dirty="0"/>
          </a:p>
          <a:p>
            <a:pPr algn="just"/>
            <a:r>
              <a:rPr lang="en-GB" sz="1300" dirty="0"/>
              <a:t>Learned how to </a:t>
            </a:r>
            <a:r>
              <a:rPr lang="en-GB" sz="1300" b="1" dirty="0"/>
              <a:t>build Docker images</a:t>
            </a:r>
            <a:r>
              <a:rPr lang="en-GB" sz="1300" dirty="0"/>
              <a:t> and run containers locally</a:t>
            </a:r>
          </a:p>
          <a:p>
            <a:pPr algn="just"/>
            <a:r>
              <a:rPr lang="en-GB" sz="1300" dirty="0"/>
              <a:t>Understood </a:t>
            </a:r>
            <a:r>
              <a:rPr lang="en-GB" sz="1300" b="1" dirty="0"/>
              <a:t>Kubernetes fundamentals</a:t>
            </a:r>
            <a:r>
              <a:rPr lang="en-GB" sz="1300" dirty="0"/>
              <a:t>: Deployments, Pods, Services</a:t>
            </a:r>
          </a:p>
          <a:p>
            <a:pPr algn="just"/>
            <a:r>
              <a:rPr lang="en-GB" sz="1300" dirty="0"/>
              <a:t>Showcased </a:t>
            </a:r>
            <a:r>
              <a:rPr lang="en-GB" sz="1300" b="1" dirty="0"/>
              <a:t>end-to-end ML model deployment</a:t>
            </a:r>
            <a:r>
              <a:rPr lang="en-GB" sz="1300" dirty="0"/>
              <a:t> with </a:t>
            </a:r>
            <a:r>
              <a:rPr lang="en-GB" sz="1300" b="1" dirty="0"/>
              <a:t>Docker</a:t>
            </a:r>
            <a:r>
              <a:rPr lang="en-GB" sz="1300" dirty="0"/>
              <a:t> and </a:t>
            </a:r>
            <a:r>
              <a:rPr lang="en-GB" sz="1300" b="1" dirty="0"/>
              <a:t>Kubernetes</a:t>
            </a:r>
            <a:endParaRPr lang="en-GB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300" dirty="0"/>
              <a:t>Developed skills in debugging container issues:</a:t>
            </a:r>
            <a:br>
              <a:rPr lang="en-GB" sz="1300" dirty="0"/>
            </a:br>
            <a:r>
              <a:rPr lang="en-GB" sz="1300" dirty="0"/>
              <a:t>▪ </a:t>
            </a:r>
            <a:r>
              <a:rPr lang="en-GB" sz="1300" b="1" dirty="0" err="1"/>
              <a:t>ImagePullBackOff</a:t>
            </a:r>
            <a:r>
              <a:rPr lang="en-GB" sz="1300" b="1" dirty="0"/>
              <a:t>: </a:t>
            </a:r>
            <a:r>
              <a:rPr lang="en-GB" sz="1300" dirty="0"/>
              <a:t>Fixed using </a:t>
            </a:r>
            <a:r>
              <a:rPr lang="en-GB" sz="1300" dirty="0" err="1"/>
              <a:t>Minikube’s</a:t>
            </a:r>
            <a:r>
              <a:rPr lang="en-GB" sz="1300" dirty="0"/>
              <a:t> Docker and </a:t>
            </a:r>
            <a:r>
              <a:rPr lang="en-GB" sz="1300" dirty="0" err="1"/>
              <a:t>imagePullPolicy</a:t>
            </a:r>
            <a:r>
              <a:rPr lang="en-GB" sz="1300" dirty="0"/>
              <a:t>: Never</a:t>
            </a:r>
            <a:br>
              <a:rPr lang="en-GB" sz="1300" dirty="0"/>
            </a:br>
            <a:r>
              <a:rPr lang="en-GB" sz="1300" dirty="0"/>
              <a:t>▪ </a:t>
            </a:r>
            <a:r>
              <a:rPr lang="en-GB" sz="1300" b="1" dirty="0"/>
              <a:t>Docker container crash: </a:t>
            </a:r>
            <a:r>
              <a:rPr lang="en-GB" sz="1300" dirty="0"/>
              <a:t>Resolved by adding python-multipart to </a:t>
            </a:r>
            <a:r>
              <a:rPr lang="en-GB" sz="1300" dirty="0" err="1"/>
              <a:t>requirements.txt</a:t>
            </a:r>
            <a:br>
              <a:rPr lang="en-GB" sz="1300" dirty="0"/>
            </a:br>
            <a:r>
              <a:rPr lang="en-GB" sz="1300" dirty="0"/>
              <a:t>▪ </a:t>
            </a:r>
            <a:r>
              <a:rPr lang="en-GB" sz="1300" b="1" dirty="0"/>
              <a:t>Prediction consistency: </a:t>
            </a:r>
            <a:r>
              <a:rPr lang="en-GB" sz="1300" dirty="0"/>
              <a:t>Fixed class mismatch by aligning training class indices with prediction mapping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300" dirty="0"/>
              <a:t>Gained real-world relevance to </a:t>
            </a:r>
            <a:r>
              <a:rPr lang="en-GB" sz="1300" b="1" dirty="0"/>
              <a:t>TOMRA</a:t>
            </a:r>
            <a:r>
              <a:rPr lang="en-GB" sz="1300" dirty="0"/>
              <a:t> and </a:t>
            </a:r>
            <a:r>
              <a:rPr lang="en-GB" sz="1300" b="1" dirty="0"/>
              <a:t>sustainability</a:t>
            </a:r>
            <a:r>
              <a:rPr lang="en-GB" sz="1300" dirty="0"/>
              <a:t> by building an eco-friendly waste classification system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300" b="1" dirty="0"/>
              <a:t>Hands-on </a:t>
            </a:r>
            <a:r>
              <a:rPr lang="en-GB" sz="1400" b="1" dirty="0"/>
              <a:t>experience</a:t>
            </a:r>
            <a:r>
              <a:rPr lang="en-GB" sz="1400" dirty="0"/>
              <a:t> with </a:t>
            </a:r>
            <a:r>
              <a:rPr lang="en-GB" sz="1400" b="1" dirty="0"/>
              <a:t>model training</a:t>
            </a:r>
            <a:r>
              <a:rPr lang="en-GB" sz="1400" dirty="0"/>
              <a:t>, </a:t>
            </a:r>
            <a:r>
              <a:rPr lang="en-GB" sz="1400" b="1" dirty="0"/>
              <a:t>APIs</a:t>
            </a:r>
            <a:r>
              <a:rPr lang="en-GB" sz="1400" dirty="0"/>
              <a:t>, </a:t>
            </a:r>
            <a:r>
              <a:rPr lang="en-GB" sz="1400" b="1" dirty="0"/>
              <a:t>CI</a:t>
            </a:r>
            <a:r>
              <a:rPr lang="en-GB" sz="1400" dirty="0"/>
              <a:t>, and </a:t>
            </a:r>
            <a:r>
              <a:rPr lang="en-GB" sz="1400" b="1" dirty="0"/>
              <a:t>microservices</a:t>
            </a:r>
            <a:r>
              <a:rPr lang="en-GB" sz="1400" dirty="0"/>
              <a:t> through the entire workflow</a:t>
            </a:r>
          </a:p>
          <a:p>
            <a:pPr marL="0" indent="0" algn="just">
              <a:buNone/>
            </a:pPr>
            <a:r>
              <a:rPr lang="en-GB" sz="1600" b="1" dirty="0"/>
              <a:t>Challenges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300" b="1" dirty="0"/>
              <a:t>Class label mismatch: </a:t>
            </a:r>
            <a:r>
              <a:rPr lang="en-GB" sz="1300" dirty="0"/>
              <a:t>Ensured class labels in predictions matched those from </a:t>
            </a:r>
            <a:r>
              <a:rPr lang="en-GB" sz="1300" dirty="0" err="1"/>
              <a:t>class_names.txt</a:t>
            </a:r>
            <a:endParaRPr lang="en-GB" sz="13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300" b="1" dirty="0"/>
              <a:t>Container networking issues in </a:t>
            </a:r>
            <a:r>
              <a:rPr lang="en-GB" sz="1300" b="1" dirty="0" err="1"/>
              <a:t>Minikube</a:t>
            </a:r>
            <a:r>
              <a:rPr lang="en-GB" sz="1300" b="1" dirty="0"/>
              <a:t>: </a:t>
            </a:r>
            <a:r>
              <a:rPr lang="en-GB" sz="1300" dirty="0"/>
              <a:t>Resolved service reachability by correcting port mappings and ensuring pods were running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18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35721-0343-5A59-DD55-9DFED35B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0DBAAE-01B9-E254-58A8-11CFE2B65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7BB26EC8-ED6B-F5C8-4F73-8D750AF1E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C25B60-EE49-3D15-68A6-7560772F5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1E74F-F56A-8876-CB19-65880D93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400"/>
              <a:t>Final Summary &amp;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D5BE2-F66D-4277-0CB2-FACF9B69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100" dirty="0"/>
              <a:t>- Built and deployed full-stack waste classification API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- Stack: Python, TensorFlow, </a:t>
            </a:r>
            <a:r>
              <a:rPr lang="en-GB" sz="2100" dirty="0" err="1"/>
              <a:t>FastAPI</a:t>
            </a:r>
            <a:r>
              <a:rPr lang="en-GB" sz="2100" dirty="0"/>
              <a:t>, Docker, Kubernetes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- Accessible via REST API and documented with Swagger UI</a:t>
            </a:r>
          </a:p>
          <a:p>
            <a:pPr>
              <a:lnSpc>
                <a:spcPct val="90000"/>
              </a:lnSpc>
            </a:pPr>
            <a:r>
              <a:rPr lang="en-GB" sz="2100" dirty="0"/>
              <a:t>GitHub: </a:t>
            </a:r>
            <a:r>
              <a:rPr lang="en-GB" sz="2100" dirty="0">
                <a:hlinkClick r:id="rId2"/>
              </a:rPr>
              <a:t>https://</a:t>
            </a:r>
            <a:r>
              <a:rPr lang="en-GB" sz="2100" dirty="0" err="1">
                <a:hlinkClick r:id="rId2"/>
              </a:rPr>
              <a:t>github.com</a:t>
            </a:r>
            <a:r>
              <a:rPr lang="en-GB" sz="2100" dirty="0">
                <a:hlinkClick r:id="rId2"/>
              </a:rPr>
              <a:t>/RamyaSP6/waste-classifier-</a:t>
            </a:r>
            <a:r>
              <a:rPr lang="en-GB" sz="2100" dirty="0" err="1">
                <a:hlinkClick r:id="rId2"/>
              </a:rPr>
              <a:t>api</a:t>
            </a: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1340509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60840-8103-AC15-9C60-43133556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445" y="2142336"/>
            <a:ext cx="4389533" cy="2650489"/>
          </a:xfrm>
        </p:spPr>
        <p:txBody>
          <a:bodyPr>
            <a:noAutofit/>
          </a:bodyPr>
          <a:lstStyle/>
          <a:p>
            <a:r>
              <a:rPr lang="en-DE" sz="6000" b="1" dirty="0"/>
              <a:t>THANK YOU!</a:t>
            </a:r>
            <a:br>
              <a:rPr lang="en-DE" sz="6000" b="1" dirty="0"/>
            </a:br>
            <a:endParaRPr lang="en-DE" sz="6000" b="1" dirty="0"/>
          </a:p>
        </p:txBody>
      </p:sp>
      <p:pic>
        <p:nvPicPr>
          <p:cNvPr id="19" name="Graphic 18" descr="Handshake">
            <a:extLst>
              <a:ext uri="{FF2B5EF4-FFF2-40B4-BE49-F238E27FC236}">
                <a16:creationId xmlns:a16="http://schemas.microsoft.com/office/drawing/2014/main" id="{FF1CD5DD-0CE0-5F24-C3F4-88663B107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517" y="2142336"/>
            <a:ext cx="2650489" cy="26504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D1F64-D508-A481-D655-C308C596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3" y="4667002"/>
            <a:ext cx="2773749" cy="1059473"/>
          </a:xfrm>
        </p:spPr>
        <p:txBody>
          <a:bodyPr anchor="t">
            <a:normAutofit/>
          </a:bodyPr>
          <a:lstStyle/>
          <a:p>
            <a:endParaRPr lang="en-DE" sz="1700" dirty="0"/>
          </a:p>
        </p:txBody>
      </p:sp>
    </p:spTree>
    <p:extLst>
      <p:ext uri="{BB962C8B-B14F-4D97-AF65-F5344CB8AC3E}">
        <p14:creationId xmlns:p14="http://schemas.microsoft.com/office/powerpoint/2010/main" val="422561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F36122-68B4-1346-943A-07B36BCB101C}">
  <we:reference id="420c02be-0763-420c-a2c0-9ee824ce2d5f" version="1.2.0.0" store="EXCatalog" storeType="EXCatalog"/>
  <we:alternateReferences>
    <we:reference id="WA200007063" version="1.2.0.0" store="de-DE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1048</Words>
  <Application>Microsoft Macintosh PowerPoint</Application>
  <PresentationFormat>On-screen Show (4:3)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Waste Classification API</vt:lpstr>
      <vt:lpstr>Problem Statement &amp; Objective</vt:lpstr>
      <vt:lpstr>Technical Overview</vt:lpstr>
      <vt:lpstr>Project Overview</vt:lpstr>
      <vt:lpstr>Architecture Diagram</vt:lpstr>
      <vt:lpstr>Dataset Summary</vt:lpstr>
      <vt:lpstr>CNN Architecture - A Convolutional Neural Network (CNN) was designed to classify waste into 6 categories.  Architecture includes: 3 Convolutional Layers (Conv2D): Extract spatial features using filters. MaxPooling Layers after each Conv layer: Reduce dimensionality and preserve key features. Flatten Layer: Converts 3D output to 1D for the dense layer. Dense Layer: Learns high-level feature patterns. Softmax Output Layer: Provides class probabilities for 6 waste categories.  Training Configuration Optimizer: Adam Loss Function: Categorical Cross-Entropy Activation Functions: ReLU (hidden layers), Softmax  (output layer)  Output: The final model outputs a 6-class probability  distribution (cardboard, glass, metal, paper, plastic, trash). </vt:lpstr>
      <vt:lpstr>Model Training Summary Number of Epochs: Trained for 30 epochs with early stopping Batch Size: 32  Accuracy &amp; Loss Curves Training and validation accuracy steadily improved across epochs. Loss decreased consistently with minimal overfitting.  Class Mapping Output print("Class indices:", train_data.class_indices)  Output: {'cardboard': 0, 'glass': 1, 'metal': 2, 'paper': 3, 'plastic': 4, 'trash': 5} Output: waste_classifier.h5 (saved model) Class labels saved in class_names.txt</vt:lpstr>
      <vt:lpstr>FastAPI Integration</vt:lpstr>
      <vt:lpstr>Docker Containerization</vt:lpstr>
      <vt:lpstr>Kubernetes Deployment</vt:lpstr>
      <vt:lpstr>Live API Demo</vt:lpstr>
      <vt:lpstr>Live API Demo</vt:lpstr>
      <vt:lpstr>Learnings &amp; Challenges</vt:lpstr>
      <vt:lpstr>Final Summary &amp; GitHub Link</vt:lpstr>
      <vt:lpstr>THANK YOU!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Ramya Subramanian Porselva Bharathi</cp:lastModifiedBy>
  <cp:revision>33</cp:revision>
  <dcterms:created xsi:type="dcterms:W3CDTF">2013-01-27T09:14:16Z</dcterms:created>
  <dcterms:modified xsi:type="dcterms:W3CDTF">2025-07-05T17:48:05Z</dcterms:modified>
  <cp:category/>
</cp:coreProperties>
</file>